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8C1A8-FCF5-7037-BBA4-11574A379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834AE-650D-E4B8-C0DA-995030224F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2FB07-19C9-CC1C-D38F-8A9A56616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E6FD-FB28-4B60-B641-2AF2E3BE36D9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19B8E-743E-6CAC-8B7F-E1E8D4AD1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23384-E242-8D51-A002-0B45CF93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72BC-1218-4869-89A7-BB732980F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464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A3CF8-6088-23CF-C5AA-65D70AAEA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1CB44-DF94-690A-8D1C-E9C071349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24F55-63C4-8D87-A024-F50C6F691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E6FD-FB28-4B60-B641-2AF2E3BE36D9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6EA9B-6EC5-27BD-41BE-C7A48000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38F7A-97DC-4523-1612-51A97690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72BC-1218-4869-89A7-BB732980F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171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C8A0D-6217-8755-D24D-7D9AD52B5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91507-0346-6A7B-67BC-747859254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C346C-61F4-C78D-0B57-A291501CB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E6FD-FB28-4B60-B641-2AF2E3BE36D9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09481-CBE0-84FD-8009-847C7CB32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F9966-A610-D3B2-E0AA-DC8CB963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72BC-1218-4869-89A7-BB732980F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72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F9EDA-2BD0-8001-7AE2-669FF39AE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1B069-F94D-772F-A20E-F0B98B319F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0FE14-2253-8599-01D3-E081DBF43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69956-0200-9684-0F6D-BA36A056C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E6FD-FB28-4B60-B641-2AF2E3BE36D9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496C0-0BCE-3328-FDD4-53D4FE97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7BF26-78D7-E831-7984-C750A78B8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72BC-1218-4869-89A7-BB732980F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27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41DCB-6E13-7859-C0E8-AE6665CCC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ABDDC-A5EC-78CF-BF4C-430052A53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DEDBA-86AA-08C1-D0F8-C753B101A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4CCB66-E845-4142-13DD-A238B4C382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7DB983-ADCB-D7CC-CB54-B6CC9EB4DC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0F154B-0AC1-15CC-EF63-A37280603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E6FD-FB28-4B60-B641-2AF2E3BE36D9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C39974-900A-F192-C6BC-D5D0F1FAD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0705BF-7A34-4877-2E8F-884F8F398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72BC-1218-4869-89A7-BB732980F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544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28219-5213-9A3E-BB71-0EBF6548E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391A8E-9105-E371-AEB6-048EA371B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E6FD-FB28-4B60-B641-2AF2E3BE36D9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E7BDA9-D0D4-FCF1-35D2-131F764BB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A312E3-6695-F1EE-9D86-70C59A6AB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72BC-1218-4869-89A7-BB732980F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47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3D0782-C6A3-38F5-4E5B-5EE4BF12C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E6FD-FB28-4B60-B641-2AF2E3BE36D9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C61135-4911-C1E4-5352-2B0256C4F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E786B-3589-0585-A4B2-D57C7E58F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72BC-1218-4869-89A7-BB732980F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636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342D7-810C-1B43-6D89-10F51A0A3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A1368-77C1-4835-9A54-D09C4F06E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CD91C-FD80-10C6-F71E-50229C7B8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994AA-A35A-F549-ACA6-D8CFE1DB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E6FD-FB28-4B60-B641-2AF2E3BE36D9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931E0F-C6C1-657C-5224-24A1F974D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6F758-7D62-7DC0-0D82-88394FBE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72BC-1218-4869-89A7-BB732980F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74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EDD62-4BD9-3D44-A160-34E26CBAD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ACA916-93BE-5641-9D0B-90D75D82F2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7A124A-D2F0-F925-A5B8-266826FE8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1ADD1-778B-ED0A-4369-E310FC429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E6FD-FB28-4B60-B641-2AF2E3BE36D9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D9F63-FDDF-69B1-B4F0-31AE57BE8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B1348-B07E-1B27-875D-B5784D94E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72BC-1218-4869-89A7-BB732980F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72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EB81B-C347-8171-9AD7-674C46AAA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09AC2E-BE20-BB51-75B4-84A617592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A82F1-5E39-66F7-F201-FF3D2A094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E6FD-FB28-4B60-B641-2AF2E3BE36D9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BA0D5-4E82-46C1-D38F-498704402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546CE-020A-93AA-96E5-86A550A0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72BC-1218-4869-89A7-BB732980F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728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8F4BF4-0D3F-57EA-C078-1FCE86A02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CA517F-2C94-AE72-E01E-A17942F0C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FBF85-8CA9-2FCF-598D-69CE9FDA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E6FD-FB28-4B60-B641-2AF2E3BE36D9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77CED-7820-3944-8B02-0C11D904B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C007F-CAA8-DFEC-8424-50B915EC5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D72BC-1218-4869-89A7-BB732980F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80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8267DB-806F-5EF7-A94F-AF6B72A3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818CF-D059-67E3-C9A0-E9EB7D22E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40914-DDFF-77F9-FC6A-F88DB659C3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15E6FD-FB28-4B60-B641-2AF2E3BE36D9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D8C72-5065-5197-9FFA-F84FFFC4DC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2FE8F-AC63-4D60-D243-0074CAE56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2D72BC-1218-4869-89A7-BB732980F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54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AE22CC-38C5-94FF-1D8A-CC46E9A3C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7034" y="609597"/>
            <a:ext cx="9392421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Software Testing and Quality Assurance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DE275F-9CF7-DBD0-C9E9-63F1694E0D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 b="1" dirty="0"/>
              <a:t>Automated Testing for Student Grade System</a:t>
            </a:r>
          </a:p>
          <a:p>
            <a:pPr algn="l"/>
            <a:r>
              <a:rPr lang="en-US" sz="2000" b="1" dirty="0"/>
              <a:t>Course:</a:t>
            </a:r>
            <a:r>
              <a:rPr lang="en-US" sz="2000" dirty="0"/>
              <a:t> Software Testing and Quality Assurance (Fall 2025)</a:t>
            </a:r>
          </a:p>
          <a:p>
            <a:pPr algn="l"/>
            <a:r>
              <a:rPr lang="en-US" sz="2000" b="1" dirty="0"/>
              <a:t>Team Members: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Ahmad Al-Dawood (202201115)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Mohammed Al-</a:t>
            </a:r>
            <a:r>
              <a:rPr lang="en-US" sz="2000" dirty="0" err="1"/>
              <a:t>Shammasi</a:t>
            </a:r>
            <a:r>
              <a:rPr lang="en-US" sz="2000" dirty="0"/>
              <a:t> (202201348)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Abdulhadi Al-Sultan (202201246)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7" name="Graphic 6" descr="New Team Project">
            <a:extLst>
              <a:ext uri="{FF2B5EF4-FFF2-40B4-BE49-F238E27FC236}">
                <a16:creationId xmlns:a16="http://schemas.microsoft.com/office/drawing/2014/main" id="{71FD1A3D-26E2-3C33-6565-BCEF534A04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5662" y="2184914"/>
            <a:ext cx="3755915" cy="3755915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52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718083-2C84-8328-6C8D-FF2A801CB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Project Abstract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B2680-FA7D-7EAF-DEFD-6C70A1ED9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US" sz="2000" b="1" dirty="0"/>
              <a:t>Goal:</a:t>
            </a:r>
            <a:r>
              <a:rPr lang="en-US" sz="2000" dirty="0"/>
              <a:t> Validating the reliability of a Student Grade Calculation System (Classes: Student, Course, </a:t>
            </a:r>
            <a:r>
              <a:rPr lang="en-US" sz="2000" dirty="0" err="1"/>
              <a:t>GradeCalculator</a:t>
            </a:r>
            <a:r>
              <a:rPr lang="en-US" sz="2000" dirty="0"/>
              <a:t>).</a:t>
            </a:r>
          </a:p>
          <a:p>
            <a:r>
              <a:rPr lang="en-US" sz="2000" b="1" dirty="0"/>
              <a:t>Approach:</a:t>
            </a:r>
            <a:r>
              <a:rPr lang="en-US" sz="2000" dirty="0"/>
              <a:t> Implemented a comprehensive testing plan following IEEE 829 Standards.</a:t>
            </a:r>
          </a:p>
          <a:p>
            <a:r>
              <a:rPr lang="en-US" sz="2000" b="1" dirty="0"/>
              <a:t>Scope:</a:t>
            </a:r>
            <a:r>
              <a:rPr lang="en-US" sz="2000" dirty="0"/>
              <a:t> Functional correctness, boundary handling, and code coverage analysis.</a:t>
            </a:r>
          </a:p>
        </p:txBody>
      </p:sp>
      <p:pic>
        <p:nvPicPr>
          <p:cNvPr id="5" name="Picture 4" descr="A diagram of a course&#10;&#10;AI-generated content may be incorrect.">
            <a:extLst>
              <a:ext uri="{FF2B5EF4-FFF2-40B4-BE49-F238E27FC236}">
                <a16:creationId xmlns:a16="http://schemas.microsoft.com/office/drawing/2014/main" id="{2DA6C1B0-4C3C-5601-00BC-DADD09314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367" y="2449853"/>
            <a:ext cx="4788505" cy="3226036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306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48D8E8-4B5F-D82B-BF7F-AD6F4458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System Environment &amp;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71B2D-F528-58C4-9700-30F9EED89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US" sz="2000" dirty="0"/>
              <a:t>System Environment</a:t>
            </a:r>
          </a:p>
          <a:p>
            <a:r>
              <a:rPr lang="en-US" sz="2000" b="1" dirty="0"/>
              <a:t>Hardware:</a:t>
            </a:r>
            <a:r>
              <a:rPr lang="en-US" sz="2000" dirty="0"/>
              <a:t> Windows with 8+ GB of ram across all machines. AMD and Intel CPUs tested.</a:t>
            </a:r>
          </a:p>
          <a:p>
            <a:r>
              <a:rPr lang="en-US" sz="2000" b="1" dirty="0"/>
              <a:t>Language:</a:t>
            </a:r>
            <a:r>
              <a:rPr lang="en-US" sz="2000" dirty="0"/>
              <a:t> Java JDK 21</a:t>
            </a:r>
          </a:p>
          <a:p>
            <a:r>
              <a:rPr lang="en-US" sz="2000" b="1" dirty="0"/>
              <a:t>IDE:</a:t>
            </a:r>
            <a:r>
              <a:rPr lang="en-US" sz="2000" dirty="0"/>
              <a:t> </a:t>
            </a:r>
            <a:r>
              <a:rPr lang="en-US" sz="2000" dirty="0" err="1"/>
              <a:t>Intellij</a:t>
            </a:r>
            <a:endParaRPr lang="en-US" sz="2000" dirty="0"/>
          </a:p>
          <a:p>
            <a:r>
              <a:rPr lang="en-US" sz="2000" b="1" dirty="0"/>
              <a:t>Build Tool:</a:t>
            </a:r>
            <a:r>
              <a:rPr lang="en-US" sz="2000" dirty="0"/>
              <a:t> Maven</a:t>
            </a:r>
          </a:p>
        </p:txBody>
      </p:sp>
      <p:pic>
        <p:nvPicPr>
          <p:cNvPr id="7" name="Graphic 6" descr="Processor">
            <a:extLst>
              <a:ext uri="{FF2B5EF4-FFF2-40B4-BE49-F238E27FC236}">
                <a16:creationId xmlns:a16="http://schemas.microsoft.com/office/drawing/2014/main" id="{C12A1551-4EC3-F18B-3765-CF204ACF3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5662" y="2184914"/>
            <a:ext cx="3755915" cy="3755915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88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FF9993-C8EE-461A-BD60-BF956F5B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Testing Tools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8BFD5-6A67-F4FA-8A35-2B4433737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US" sz="2000" b="1" dirty="0"/>
              <a:t>JUnit 5:</a:t>
            </a:r>
            <a:r>
              <a:rPr lang="en-US" sz="2000" dirty="0"/>
              <a:t> Used for the core testing framework.</a:t>
            </a:r>
          </a:p>
          <a:p>
            <a:r>
              <a:rPr lang="en-US" sz="2000" b="1" dirty="0"/>
              <a:t>JaCoCo:</a:t>
            </a:r>
            <a:r>
              <a:rPr lang="en-US" sz="2000" dirty="0"/>
              <a:t> Used for code coverage analysis.</a:t>
            </a:r>
          </a:p>
          <a:p>
            <a:r>
              <a:rPr lang="en-US" sz="2000" b="1" dirty="0"/>
              <a:t>Surefire 3.1: </a:t>
            </a:r>
            <a:r>
              <a:rPr lang="en-US" sz="2000" dirty="0"/>
              <a:t>Executes the JUnit 5 test suites during the Maven build lifecycle. Also used to generate JaCoCo report.</a:t>
            </a:r>
          </a:p>
        </p:txBody>
      </p:sp>
      <p:pic>
        <p:nvPicPr>
          <p:cNvPr id="18" name="Graphic 17" descr="Tools">
            <a:extLst>
              <a:ext uri="{FF2B5EF4-FFF2-40B4-BE49-F238E27FC236}">
                <a16:creationId xmlns:a16="http://schemas.microsoft.com/office/drawing/2014/main" id="{6F2171A3-1B70-34FD-26C5-C4D3385F0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5662" y="2184914"/>
            <a:ext cx="3755915" cy="3755915"/>
          </a:xfrm>
          <a:prstGeom prst="rect">
            <a:avLst/>
          </a:prstGeom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463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B60DF8-14F7-0609-79BB-4E9960C49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Test Case Design - Black-Box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284FC-D228-A095-E6A8-706503ADA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Equivalence Partitioning (EP):</a:t>
            </a:r>
            <a:endParaRPr lang="en-US" sz="2000" dirty="0"/>
          </a:p>
          <a:p>
            <a:r>
              <a:rPr lang="en-US" sz="2000" i="1" dirty="0"/>
              <a:t>Concept:</a:t>
            </a:r>
            <a:r>
              <a:rPr lang="en-US" sz="2000" dirty="0"/>
              <a:t> Grouping inputs where the system should behave similarly.</a:t>
            </a:r>
          </a:p>
          <a:p>
            <a:r>
              <a:rPr lang="en-US" sz="2000" i="1" dirty="0" err="1"/>
              <a:t>Example</a:t>
            </a:r>
            <a:r>
              <a:rPr lang="en-US" sz="2000" dirty="0" err="1"/>
              <a:t>GradeCalculator</a:t>
            </a:r>
            <a:r>
              <a:rPr lang="en-US" sz="2000" dirty="0"/>
              <a:t> inputs 90-100 → "A", 80-89 → "B".</a:t>
            </a:r>
          </a:p>
          <a:p>
            <a:pPr marL="0" indent="0">
              <a:buNone/>
            </a:pPr>
            <a:r>
              <a:rPr lang="en-US" sz="2000" b="1" dirty="0"/>
              <a:t>Boundary Value Analysis (BVA):</a:t>
            </a:r>
          </a:p>
          <a:p>
            <a:r>
              <a:rPr lang="en-US" sz="2000" i="1" dirty="0"/>
              <a:t>Concept:</a:t>
            </a:r>
            <a:r>
              <a:rPr lang="en-US" sz="2000" dirty="0"/>
              <a:t> Testing the edges of input ranges.</a:t>
            </a:r>
          </a:p>
          <a:p>
            <a:r>
              <a:rPr lang="en-US" sz="2000" dirty="0"/>
              <a:t>Example: Testing input </a:t>
            </a:r>
            <a:r>
              <a:rPr lang="en-US" sz="2000" b="1" dirty="0"/>
              <a:t>89</a:t>
            </a:r>
            <a:r>
              <a:rPr lang="en-US" sz="2000" dirty="0"/>
              <a:t> (Boundary for B) vs. </a:t>
            </a:r>
            <a:r>
              <a:rPr lang="en-US" sz="2000" b="1" dirty="0"/>
              <a:t>90</a:t>
            </a:r>
            <a:r>
              <a:rPr lang="en-US" sz="2000" dirty="0"/>
              <a:t> (Boundary for A).</a:t>
            </a:r>
          </a:p>
        </p:txBody>
      </p:sp>
      <p:pic>
        <p:nvPicPr>
          <p:cNvPr id="5" name="Picture 4" descr="A chart of a variety of colors&#10;&#10;AI-generated content may be incorrect.">
            <a:extLst>
              <a:ext uri="{FF2B5EF4-FFF2-40B4-BE49-F238E27FC236}">
                <a16:creationId xmlns:a16="http://schemas.microsoft.com/office/drawing/2014/main" id="{9458EE72-990A-CDB4-FF8E-44FAB43AA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367" y="3416423"/>
            <a:ext cx="4788505" cy="1292896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88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11FCA2-7D56-8C3D-4191-A84C27FAE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dirty="0"/>
              <a:t>Test Case Design - White-Box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02EEA-8F8D-C972-44FE-E2EA8B939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/>
              <a:t>Basis Path Testing:</a:t>
            </a:r>
          </a:p>
          <a:p>
            <a:r>
              <a:rPr lang="en-US" sz="1700" dirty="0"/>
              <a:t>Designed to execute every independent path through the </a:t>
            </a:r>
            <a:r>
              <a:rPr lang="en-US" sz="1700" dirty="0" err="1"/>
              <a:t>calculateGPA</a:t>
            </a:r>
            <a:r>
              <a:rPr lang="en-US" sz="1700" dirty="0"/>
              <a:t> method.</a:t>
            </a:r>
          </a:p>
          <a:p>
            <a:pPr marL="0" indent="0">
              <a:buNone/>
            </a:pPr>
            <a:r>
              <a:rPr lang="en-US" sz="1700" b="1" dirty="0"/>
              <a:t>Decision Coverage:</a:t>
            </a:r>
          </a:p>
          <a:p>
            <a:r>
              <a:rPr lang="en-US" sz="1700" dirty="0"/>
              <a:t>Ensuring logical branches (True/False) are executed.</a:t>
            </a:r>
          </a:p>
          <a:p>
            <a:pPr marL="0" indent="0">
              <a:buNone/>
            </a:pPr>
            <a:r>
              <a:rPr lang="en-US" sz="1700" b="1" dirty="0"/>
              <a:t>Example from Code:</a:t>
            </a:r>
          </a:p>
          <a:p>
            <a:r>
              <a:rPr lang="en-US" sz="1700" dirty="0"/>
              <a:t>Scenario: </a:t>
            </a:r>
            <a:r>
              <a:rPr lang="en-US" sz="1700" dirty="0" err="1"/>
              <a:t>testCalculateGPACapped</a:t>
            </a:r>
            <a:r>
              <a:rPr lang="en-US" sz="1700" dirty="0"/>
              <a:t> (Ensures GPA never exceeds 4.0).</a:t>
            </a:r>
          </a:p>
          <a:p>
            <a:r>
              <a:rPr lang="pt-BR" sz="1700" dirty="0"/>
              <a:t>Scenario: testCalculateGPAInvalidGrade (Ensures invalid grades default to F/0.0).</a:t>
            </a:r>
            <a:endParaRPr lang="en-US" sz="1700" dirty="0"/>
          </a:p>
        </p:txBody>
      </p:sp>
      <p:pic>
        <p:nvPicPr>
          <p:cNvPr id="6" name="Picture 5" descr="A diagram of a flowchart&#10;&#10;AI-generated content may be incorrect.">
            <a:extLst>
              <a:ext uri="{FF2B5EF4-FFF2-40B4-BE49-F238E27FC236}">
                <a16:creationId xmlns:a16="http://schemas.microsoft.com/office/drawing/2014/main" id="{60D1D09C-12AB-3AF3-1F08-F9BF352BC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924" y="717012"/>
            <a:ext cx="3363022" cy="544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419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7C43A5-C080-1646-7F4D-4F8609182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/>
              <a:t>Code Coverage Analysis (JaCoCo Results)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CB79F-A19A-8DA5-223C-020841752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US" sz="2000" b="1"/>
              <a:t>Metrics Evaluated:</a:t>
            </a:r>
          </a:p>
          <a:p>
            <a:r>
              <a:rPr lang="en-US" sz="2000"/>
              <a:t>Instruction Coverage (Lines of code executed).</a:t>
            </a:r>
          </a:p>
          <a:p>
            <a:r>
              <a:rPr lang="en-US" sz="2000"/>
              <a:t>Branch Coverage (If/Else paths taken).</a:t>
            </a:r>
          </a:p>
          <a:p>
            <a:r>
              <a:rPr lang="en-US" sz="2000" b="1"/>
              <a:t>Target:</a:t>
            </a:r>
            <a:r>
              <a:rPr lang="en-US" sz="2000"/>
              <a:t> Aimed for high percentage coverage</a:t>
            </a:r>
          </a:p>
        </p:txBody>
      </p:sp>
      <p:pic>
        <p:nvPicPr>
          <p:cNvPr id="9" name="Picture 8" descr="A diagram of a number of numbers and a diagram of a number of numbers&#10;&#10;AI-generated content may be incorrect.">
            <a:extLst>
              <a:ext uri="{FF2B5EF4-FFF2-40B4-BE49-F238E27FC236}">
                <a16:creationId xmlns:a16="http://schemas.microsoft.com/office/drawing/2014/main" id="{3F8C684D-2D18-4CD9-8384-249FE6B27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1316" y="2184914"/>
            <a:ext cx="4784606" cy="3755915"/>
          </a:xfrm>
          <a:prstGeom prst="rect">
            <a:avLst/>
          </a:prstGeom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71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A922FB-3375-4113-0EA4-8A996C630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Integration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BD2E0-8E0C-A5F0-7670-A21FB6183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Approach:</a:t>
            </a:r>
            <a:r>
              <a:rPr lang="en-US" sz="2000" dirty="0"/>
              <a:t> Bottom-Up Integration.</a:t>
            </a:r>
          </a:p>
          <a:p>
            <a:r>
              <a:rPr lang="en-US" sz="2000" b="1" dirty="0"/>
              <a:t>Interaction:</a:t>
            </a:r>
            <a:r>
              <a:rPr lang="en-US" sz="2000" dirty="0"/>
              <a:t> Tested the interaction between Student class and Course class.</a:t>
            </a:r>
          </a:p>
          <a:p>
            <a:r>
              <a:rPr lang="en-US" sz="2000" b="1" dirty="0"/>
              <a:t>Test Case:</a:t>
            </a:r>
            <a:r>
              <a:rPr lang="en-US" sz="2000" dirty="0"/>
              <a:t> </a:t>
            </a:r>
            <a:r>
              <a:rPr lang="en-US" sz="2000" dirty="0" err="1"/>
              <a:t>testCalculateGPAMultipleCourses</a:t>
            </a:r>
            <a:endParaRPr lang="en-US" sz="2000" dirty="0"/>
          </a:p>
          <a:p>
            <a:r>
              <a:rPr lang="en-US" sz="2000" dirty="0"/>
              <a:t>Input: Student enrolls in Course A (3 credits) and Course B (4 credits).</a:t>
            </a:r>
          </a:p>
          <a:p>
            <a:r>
              <a:rPr lang="en-US" sz="2000" dirty="0"/>
              <a:t>Verification: Calculated GPA matches the weighted average formula.</a:t>
            </a:r>
          </a:p>
        </p:txBody>
      </p:sp>
      <p:pic>
        <p:nvPicPr>
          <p:cNvPr id="5" name="Picture 4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BAAA2803-3370-3766-8E9E-5A156EFCA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498" y="2184914"/>
            <a:ext cx="3000242" cy="3755915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06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018AA-11F2-4BBA-0E7A-C5D22F43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Challenges &amp;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26453-5EBB-E54B-5718-D2839D3A2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Environment Setup: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  <a:p>
            <a:r>
              <a:rPr lang="en-US" sz="17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Challenge: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Configuring JaCoCo in the IDE to generate reports correctly.</a:t>
            </a:r>
          </a:p>
          <a:p>
            <a:r>
              <a:rPr lang="en-US" sz="17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Solution: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Adjusted Maven build configuration to include the JaCoCo agent.</a:t>
            </a:r>
            <a:endParaRPr lang="en-US" sz="1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Test case development: </a:t>
            </a:r>
          </a:p>
          <a:p>
            <a:r>
              <a:rPr lang="en-US" sz="17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Challenge: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Handling "Dead Code" (Unreachable Logic).</a:t>
            </a:r>
          </a:p>
          <a:p>
            <a:r>
              <a:rPr lang="en-US" sz="17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Solution: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Analyzed upstream constraints (Constructor sanitization) and documented why 100% coverage was theoretically impossible (e.g., GPA Cap check).</a:t>
            </a:r>
          </a:p>
          <a:p>
            <a:r>
              <a:rPr lang="en-US" sz="17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Challenge: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Defining effective Black-Box inputs.</a:t>
            </a:r>
          </a:p>
          <a:p>
            <a:r>
              <a:rPr lang="en-US" sz="17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Solution: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Utilized Boundary Value Analysis (BVA) to specifically target edge cases (e.g., 59/60, 89/90) rather than random sampling.</a:t>
            </a:r>
            <a:endParaRPr lang="en-US" sz="17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868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D192E-71D2-FB75-89D1-D6930336D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B8D1C-655F-6BA8-AEA5-E1BB92302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Successfully verified the Grade Calculation System.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Demonstrated robust handling of edge cases (Invalid grades, empty course lists).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Achieved high code coverage using industry-standard tools (JaCoCo).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897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523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Software Testing and Quality Assurance Project</vt:lpstr>
      <vt:lpstr>Project Abstract &amp; Objectives</vt:lpstr>
      <vt:lpstr>System Environment &amp; Configuration</vt:lpstr>
      <vt:lpstr>Testing Tools Framework</vt:lpstr>
      <vt:lpstr>Test Case Design - Black-Box Testing</vt:lpstr>
      <vt:lpstr>Test Case Design - White-Box Testing</vt:lpstr>
      <vt:lpstr>Code Coverage Analysis (JaCoCo Results)</vt:lpstr>
      <vt:lpstr>Integration Testing</vt:lpstr>
      <vt:lpstr>Challenges &amp; Solutions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 Ahmad Hisham S Aldawood</dc:creator>
  <cp:lastModifiedBy>Mr Ahmad Hisham S Aldawood</cp:lastModifiedBy>
  <cp:revision>3</cp:revision>
  <dcterms:created xsi:type="dcterms:W3CDTF">2025-11-29T10:57:35Z</dcterms:created>
  <dcterms:modified xsi:type="dcterms:W3CDTF">2025-11-29T15:19:54Z</dcterms:modified>
</cp:coreProperties>
</file>